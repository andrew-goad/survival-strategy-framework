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F5F6"/>
                </a:solidFill>
                <a:latin typeface="Arial"/>
              </a:defRPr>
            </a:pPr>
            <a:r>
              <a:t>Survival Strategy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7E5"/>
                </a:solidFill>
                <a:latin typeface="Arial"/>
              </a:defRPr>
            </a:pPr>
            <a:r>
              <a:t>From time-to-event data to governed intervention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7D0D5"/>
                </a:solidFill>
                <a:latin typeface="Arial"/>
              </a:defRPr>
            </a:pPr>
            <a:r>
              <a:t>Separate persona discovery from CoxPH risk modeling.</a:t>
            </a:r>
          </a:p>
          <a:p>
            <a:pPr>
              <a:spcAft>
                <a:spcPts val="1000"/>
              </a:spcAft>
              <a:defRPr sz="1800">
                <a:solidFill>
                  <a:srgbClr val="C7D0D5"/>
                </a:solidFill>
                <a:latin typeface="Arial"/>
              </a:defRPr>
            </a:pPr>
            <a:r>
              <a:t>Validate discrimination with stratified K-fold out-of-sample scoring.</a:t>
            </a:r>
          </a:p>
          <a:p>
            <a:pPr>
              <a:spcAft>
                <a:spcPts val="1000"/>
              </a:spcAft>
              <a:defRPr sz="1800">
                <a:solidFill>
                  <a:srgbClr val="C7D0D5"/>
                </a:solidFill>
                <a:latin typeface="Arial"/>
              </a:defRPr>
            </a:pPr>
            <a:r>
              <a:t>Select a model-derived top-quartile target cohort.</a:t>
            </a:r>
          </a:p>
          <a:p>
            <a:pPr>
              <a:spcAft>
                <a:spcPts val="1000"/>
              </a:spcAft>
              <a:defRPr sz="1800">
                <a:solidFill>
                  <a:srgbClr val="C7D0D5"/>
                </a:solidFill>
                <a:latin typeface="Arial"/>
              </a:defRPr>
            </a:pPr>
            <a:r>
              <a:t>Apply control, favorable, and adverse scenarios to the same governed IDs.</a:t>
            </a:r>
          </a:p>
          <a:p>
            <a:pPr>
              <a:spcAft>
                <a:spcPts val="1000"/>
              </a:spcAft>
              <a:defRPr sz="1800">
                <a:solidFill>
                  <a:srgbClr val="C7D0D5"/>
                </a:solidFill>
                <a:latin typeface="Arial"/>
              </a:defRPr>
            </a:pPr>
            <a:r>
              <a:t>Rebuild interactions and squared terms before re-scoring.</a:t>
            </a:r>
          </a:p>
          <a:p>
            <a:pPr>
              <a:spcAft>
                <a:spcPts val="1000"/>
              </a:spcAft>
              <a:defRPr sz="1800">
                <a:solidFill>
                  <a:srgbClr val="C7D0D5"/>
                </a:solidFill>
                <a:latin typeface="Arial"/>
              </a:defRPr>
            </a:pPr>
            <a:r>
              <a:t>Archive calibration, PH review, scenario controls, and stakeholder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8A"/>
                </a:solidFill>
                <a:latin typeface="Arial"/>
              </a:defRPr>
            </a:pPr>
            <a:r>
              <a:t>Public demonstration data | Illustrative scenarios | Not a production retention forecast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F5F6"/>
                </a:solidFill>
                <a:latin typeface="Arial"/>
              </a:defRPr>
            </a:pPr>
            <a:r>
              <a:t>Persona Lifecycle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7E5"/>
                </a:solidFill>
                <a:latin typeface="Arial"/>
              </a:defRPr>
            </a:pPr>
            <a:r>
              <a:t>Observed Kaplan-Meier curves; personas are descriptive segments, not CoxPH model inputs.</a:t>
            </a:r>
          </a:p>
        </p:txBody>
      </p:sp>
      <p:pic>
        <p:nvPicPr>
          <p:cNvPr id="4" name="Picture 3" descr="persona_kaplan_me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188720"/>
            <a:ext cx="8387522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8A"/>
                </a:solidFill>
                <a:latin typeface="Arial"/>
              </a:defRPr>
            </a:pPr>
            <a:r>
              <a:t>Public demonstration data | Illustrative scenarios | Not a production retention forecast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F5F6"/>
                </a:solidFill>
                <a:latin typeface="Arial"/>
              </a:defRPr>
            </a:pPr>
            <a:r>
              <a:t>Model-Derived Risk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7E5"/>
                </a:solidFill>
                <a:latin typeface="Arial"/>
              </a:defRPr>
            </a:pPr>
            <a:r>
              <a:t>Observed Kaplan-Meier evidence across baseline partial-hazard tiers.</a:t>
            </a:r>
          </a:p>
        </p:txBody>
      </p:sp>
      <p:pic>
        <p:nvPicPr>
          <p:cNvPr id="4" name="Picture 3" descr="risk_tier_kaplan_me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188720"/>
            <a:ext cx="8387522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8A"/>
                </a:solidFill>
                <a:latin typeface="Arial"/>
              </a:defRPr>
            </a:pPr>
            <a:r>
              <a:t>Public demonstration data | Illustrative scenarios | Not a production retention forecast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F5F6"/>
                </a:solidFill>
                <a:latin typeface="Arial"/>
              </a:defRPr>
            </a:pPr>
            <a:r>
              <a:t>Same-Cohort Predicted Survival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7E5"/>
                </a:solidFill>
                <a:latin typeface="Arial"/>
              </a:defRPr>
            </a:pPr>
            <a:r>
              <a:t>CoxPH-predicted survival for identical target IDs under control, favorable, and stress scenarios.</a:t>
            </a:r>
          </a:p>
        </p:txBody>
      </p:sp>
      <p:pic>
        <p:nvPicPr>
          <p:cNvPr id="4" name="Picture 3" descr="baseline_vs_scenario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188720"/>
            <a:ext cx="8387522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8A"/>
                </a:solidFill>
                <a:latin typeface="Arial"/>
              </a:defRPr>
            </a:pPr>
            <a:r>
              <a:t>Public demonstration data | Illustrative scenarios | Not a production retention forecast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F5F6"/>
                </a:solidFill>
                <a:latin typeface="Arial"/>
              </a:defRPr>
            </a:pPr>
            <a:r>
              <a:t>Scenario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7E5"/>
                </a:solidFill>
                <a:latin typeface="Arial"/>
              </a:defRPr>
            </a:pPr>
            <a:r>
              <a:t>Modeled sensitivity at 12 months; survival uplift shown in percentage points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9829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143000"/>
                <a:gridCol w="1600200"/>
                <a:gridCol w="1417320"/>
                <a:gridCol w="1234440"/>
                <a:gridCol w="594360"/>
              </a:tblGrid>
              <a:tr h="646611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449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449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Hazard Reduction</a:t>
                      </a:r>
                    </a:p>
                  </a:txBody>
                  <a:tcPr>
                    <a:solidFill>
                      <a:srgbClr val="1449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Survival Uplift</a:t>
                      </a:r>
                    </a:p>
                  </a:txBody>
                  <a:tcPr>
                    <a:solidFill>
                      <a:srgbClr val="1449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449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4495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Combined Retention Strategy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52.9%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18.8 pp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IMPROVED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Onboarding Completion Improvement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9.5 pp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IMPROVED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Support Resolution Improvement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25.7%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4.7 pp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IMPROVED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Product Adoption Expansion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11.8%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3.5 pp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IMPROVED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No-Change Control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0.0 pp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Service Friction Stress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STRESS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-72.9%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-8.2 pp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ADVERSE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4F5F6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0C20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8A"/>
                </a:solidFill>
                <a:latin typeface="Arial"/>
              </a:defRPr>
            </a:pPr>
            <a:r>
              <a:t>Public demonstration data | Illustrative scenarios | Not a production retention forecast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F5F6"/>
                </a:solidFill>
                <a:latin typeface="Arial"/>
              </a:defRPr>
            </a:pPr>
            <a:r>
              <a:t>Relative Hazard Movement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7E5"/>
                </a:solidFill>
                <a:latin typeface="Arial"/>
              </a:defRPr>
            </a:pPr>
            <a:r>
              <a:t>Positive values indicate modeled hazard reduction; negative values indicate adverse stress movement.</a:t>
            </a:r>
          </a:p>
        </p:txBody>
      </p:sp>
      <p:pic>
        <p:nvPicPr>
          <p:cNvPr id="4" name="Picture 3" descr="scenario_hazard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188720"/>
            <a:ext cx="8982260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8A"/>
                </a:solidFill>
                <a:latin typeface="Arial"/>
              </a:defRPr>
            </a:pPr>
            <a:r>
              <a:t>Public demonstration data | Illustrative scenarios | Not a production retention forecast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F5F6"/>
                </a:solidFill>
                <a:latin typeface="Arial"/>
              </a:defRPr>
            </a:pPr>
            <a:r>
              <a:t>Model Validation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7E5"/>
                </a:solidFill>
                <a:latin typeface="Arial"/>
              </a:defRPr>
            </a:pPr>
            <a:r>
              <a:t>Out-of-fold discrimination, calibration, and proportional-hazards review</a:t>
            </a:r>
          </a:p>
        </p:txBody>
      </p:sp>
      <p:pic>
        <p:nvPicPr>
          <p:cNvPr id="4" name="Picture 3" descr="calibration_at_horiz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4335706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D9A441"/>
                </a:solidFill>
                <a:latin typeface="Arial"/>
              </a:defRPr>
            </a:pPr>
            <a:r>
              <a:t>0.827</a:t>
            </a:r>
          </a:p>
          <a:p>
            <a:pPr algn="ctr">
              <a:defRPr sz="900">
                <a:solidFill>
                  <a:srgbClr val="C7D0D5"/>
                </a:solidFill>
                <a:latin typeface="Arial"/>
              </a:defRPr>
            </a:pPr>
            <a:r>
              <a:t>Apparent concordance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1417320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0D7E5"/>
                </a:solidFill>
                <a:latin typeface="Arial"/>
              </a:defRPr>
            </a:pPr>
            <a:r>
              <a:t>0.827</a:t>
            </a:r>
          </a:p>
          <a:p>
            <a:pPr algn="ctr">
              <a:defRPr sz="900">
                <a:solidFill>
                  <a:srgbClr val="C7D0D5"/>
                </a:solidFill>
                <a:latin typeface="Arial"/>
              </a:defRPr>
            </a:pPr>
            <a:r>
              <a:t>5-fold CV 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880360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56C271"/>
                </a:solidFill>
                <a:latin typeface="Arial"/>
              </a:defRPr>
            </a:pPr>
            <a:r>
              <a:t>0.119</a:t>
            </a:r>
          </a:p>
          <a:p>
            <a:pPr algn="ctr">
              <a:defRPr sz="900">
                <a:solidFill>
                  <a:srgbClr val="C7D0D5"/>
                </a:solidFill>
                <a:latin typeface="Arial"/>
              </a:defRPr>
            </a:pPr>
            <a:r>
              <a:t>Integrated Brier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880360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D9A441"/>
                </a:solidFill>
                <a:latin typeface="Arial"/>
              </a:defRPr>
            </a:pPr>
            <a:r>
              <a:t>PASS_WITH_REVIEW</a:t>
            </a:r>
          </a:p>
          <a:p>
            <a:pPr algn="ctr">
              <a:defRPr sz="900">
                <a:solidFill>
                  <a:srgbClr val="C7D0D5"/>
                </a:solidFill>
                <a:latin typeface="Arial"/>
              </a:defRPr>
            </a:pPr>
            <a:r>
              <a:t>PH diagnostic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8A"/>
                </a:solidFill>
                <a:latin typeface="Arial"/>
              </a:defRPr>
            </a:pPr>
            <a:r>
              <a:t>Public demonstration data | Illustrative scenarios | Not a production retention forecast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F5F6"/>
                </a:solidFill>
                <a:latin typeface="Arial"/>
              </a:defRPr>
            </a:pPr>
            <a:r>
              <a:t>Executive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7E5"/>
                </a:solidFill>
                <a:latin typeface="Arial"/>
              </a:defRPr>
            </a:pPr>
            <a:r>
              <a:t>Evidence, review status, and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0D7E5"/>
                </a:solidFill>
                <a:latin typeface="Arial"/>
              </a:defRPr>
            </a:pPr>
            <a:r>
              <a:t>7,500</a:t>
            </a:r>
          </a:p>
          <a:p>
            <a:pPr algn="ctr">
              <a:defRPr sz="900">
                <a:solidFill>
                  <a:srgbClr val="C7D0D5"/>
                </a:solidFill>
                <a:latin typeface="Arial"/>
              </a:defRPr>
            </a:pPr>
            <a:r>
              <a:t>Synthetic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188720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0D7E5"/>
                </a:solidFill>
                <a:latin typeface="Arial"/>
              </a:defRPr>
            </a:pPr>
            <a:r>
              <a:t>1,875</a:t>
            </a:r>
          </a:p>
          <a:p>
            <a:pPr algn="ctr">
              <a:defRPr sz="900">
                <a:solidFill>
                  <a:srgbClr val="C7D0D5"/>
                </a:solidFill>
                <a:latin typeface="Arial"/>
              </a:defRPr>
            </a:pPr>
            <a:r>
              <a:t>Target-cohort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80" y="1188720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56C271"/>
                </a:solidFill>
                <a:latin typeface="Arial"/>
              </a:defRPr>
            </a:pPr>
            <a:r>
              <a:t>52.9%</a:t>
            </a:r>
          </a:p>
          <a:p>
            <a:pPr algn="ctr">
              <a:defRPr sz="900">
                <a:solidFill>
                  <a:srgbClr val="C7D0D5"/>
                </a:solidFill>
                <a:latin typeface="Arial"/>
              </a:defRPr>
            </a:pPr>
            <a:r>
              <a:t>Best modeled hazard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188720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56C271"/>
                </a:solidFill>
                <a:latin typeface="Arial"/>
              </a:defRPr>
            </a:pPr>
            <a:r>
              <a:t>18.8 pp</a:t>
            </a:r>
          </a:p>
          <a:p>
            <a:pPr algn="ctr">
              <a:defRPr sz="900">
                <a:solidFill>
                  <a:srgbClr val="C7D0D5"/>
                </a:solidFill>
                <a:latin typeface="Arial"/>
              </a:defRPr>
            </a:pPr>
            <a:r>
              <a:t>Survival uplift at 12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1188720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D9A441"/>
                </a:solidFill>
                <a:latin typeface="Arial"/>
              </a:defRPr>
            </a:pPr>
            <a:r>
              <a:t>PASS_WITH_REVIEW</a:t>
            </a:r>
          </a:p>
          <a:p>
            <a:pPr algn="ctr">
              <a:defRPr sz="900">
                <a:solidFill>
                  <a:srgbClr val="C7D0D5"/>
                </a:solidFill>
                <a:latin typeface="Arial"/>
              </a:defRPr>
            </a:pPr>
            <a:r>
              <a:t>Run acceptance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4F5F6"/>
                </a:solidFill>
                <a:latin typeface="Arial"/>
              </a:defRPr>
            </a:pPr>
            <a:r>
              <a:t>The Survival Strategy Framework - Synthetic Retention Demo run analyzed 7,500 records with an observed event rate of 39.52%. The regularized CoxPH model produced an apparent development-sample concordance index of 0.827; deterministic 5-fold validation produced a mean concordance of 0.827 (SD 0.007). The baseline high risk (top 25%) rule selected 1,875 records for same-cohort sensitivity testing. Among the illustrative improvement scenarios, 'Combined Retention Strategy' produced the largest modeled movement for the same 1,875-record target cohort: mean partial hazard declined by 52.86%, and modeled survival at 12 months increased by 18.79 percentage points. The run concluded PASS_WITH_REVIEW; proportional-hazards evidence was classified PASS_WITH_REVIEW. These outputs are model-based sensitivity evidence from demonstration data, not causal treatment effects, production retention forecasts, or realized financial outcomes.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07899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D9A441"/>
                </a:solidFill>
                <a:latin typeface="Arial"/>
              </a:defRPr>
            </a:pPr>
            <a:r>
              <a:t>Modeled sensitivity — not causal treatment effect.</a:t>
            </a:r>
          </a:p>
          <a:p>
            <a:pPr>
              <a:spcAft>
                <a:spcPts val="500"/>
              </a:spcAft>
              <a:defRPr sz="1200">
                <a:solidFill>
                  <a:srgbClr val="D9A441"/>
                </a:solidFill>
                <a:latin typeface="Arial"/>
              </a:defRPr>
            </a:pPr>
            <a:r>
              <a:t>Synthetic demonstration data — no PII.</a:t>
            </a:r>
          </a:p>
          <a:p>
            <a:pPr>
              <a:spcAft>
                <a:spcPts val="500"/>
              </a:spcAft>
              <a:defRPr sz="1200">
                <a:solidFill>
                  <a:srgbClr val="D9A441"/>
                </a:solidFill>
                <a:latin typeface="Arial"/>
              </a:defRPr>
            </a:pPr>
            <a:r>
              <a:t>No booked revenue, realized ROI, or production forecast is claimed.</a:t>
            </a:r>
          </a:p>
          <a:p>
            <a:pPr>
              <a:spcAft>
                <a:spcPts val="500"/>
              </a:spcAft>
              <a:defRPr sz="1200">
                <a:solidFill>
                  <a:srgbClr val="D9A441"/>
                </a:solidFill>
                <a:latin typeface="Arial"/>
              </a:defRPr>
            </a:pPr>
            <a:r>
              <a:t>Production use requires domain calibration, monitoring, and model-risk approval.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8A"/>
                </a:solidFill>
                <a:latin typeface="Arial"/>
              </a:defRPr>
            </a:pPr>
            <a:r>
              <a:t>Public demonstration data | Illustrative scenarios | Not a production retention forecast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